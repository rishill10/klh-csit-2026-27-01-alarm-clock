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eda00a40-e026-de5d-3aa7-0dbf7ef68dc1}">
          <p14:sldIdLst>
            <p14:sldId id="256"/>
            <p14:sldId id="257"/>
            <p14:sldId id="258"/>
          </p14:sldIdLst>
        </p14:section>
        <p14:section name="Design" id="{d7c2dbe7-8fe1-c330-df47-31efcee86d63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Evaluation" id="{f688045e-20ef-64b3-11d7-d52cdc981f2f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Smart CPU Scheduler with Dynamic Priority Adjustment</a:t>
            </a:r>
            <a:endParaRPr lang="en-US" sz="38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Preemptive Priority Scheduling with Dynamic Priority Aging</a:t>
            </a:r>
            <a:endParaRPr lang="en-US" sz="1800" dirty="0"/>
          </a:p>
        </p:txBody>
      </p:sp>
      <p:sp>
        <p:nvSpPr>
          <p:cNvPr id="4" name="Tech stack"/>
          <p:cNvSpPr txBox="1"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 (C11)  •  Python 3 / Tkinter  •  GCC  •  Linux/Unix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Problem: Starvation</a:t>
            </a:r>
            <a:endParaRPr lang="en-US" sz="2600" dirty="0"/>
          </a:p>
        </p:txBody>
      </p:sp>
      <p:sp>
        <p:nvSpPr>
          <p:cNvPr id="3" name="What card"/>
          <p:cNvSpPr/>
          <p:nvPr/>
        </p:nvSpPr>
        <p:spPr>
          <a:xfrm>
            <a:off x="502920" y="1234440"/>
            <a:ext cx="2560320" cy="310896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What accent"/>
          <p:cNvSpPr/>
          <p:nvPr/>
        </p:nvSpPr>
        <p:spPr>
          <a:xfrm>
            <a:off x="502920" y="1234440"/>
            <a:ext cx="64008" cy="310896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5" name="What head"/>
          <p:cNvSpPr txBox="1"/>
          <p:nvPr/>
        </p:nvSpPr>
        <p:spPr>
          <a:xfrm>
            <a:off x="704088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happens</a:t>
            </a:r>
            <a:endParaRPr lang="en-US" sz="1600" dirty="0"/>
          </a:p>
        </p:txBody>
      </p:sp>
      <p:sp>
        <p:nvSpPr>
          <p:cNvPr id="6" name="What body"/>
          <p:cNvSpPr txBox="1"/>
          <p:nvPr/>
        </p:nvSpPr>
        <p:spPr>
          <a:xfrm>
            <a:off x="704088" y="173736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Fixed priority always runs the best-priority process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 steady flow of high-priority arrivals keeps low-priority work waiting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Waiting can become unbounded</a:t>
            </a:r>
            <a:endParaRPr lang="en-US" sz="1400" dirty="0"/>
          </a:p>
        </p:txBody>
      </p:sp>
      <p:sp>
        <p:nvSpPr>
          <p:cNvPr id="7" name="Why card"/>
          <p:cNvSpPr/>
          <p:nvPr/>
        </p:nvSpPr>
        <p:spPr>
          <a:xfrm>
            <a:off x="3291840" y="1234440"/>
            <a:ext cx="2560320" cy="310896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Why accent"/>
          <p:cNvSpPr/>
          <p:nvPr/>
        </p:nvSpPr>
        <p:spPr>
          <a:xfrm>
            <a:off x="3291840" y="1234440"/>
            <a:ext cx="64008" cy="310896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9" name="Why head"/>
          <p:cNvSpPr txBox="1"/>
          <p:nvPr/>
        </p:nvSpPr>
        <p:spPr>
          <a:xfrm>
            <a:off x="3493008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it matters</a:t>
            </a:r>
            <a:endParaRPr lang="en-US" sz="1600" dirty="0"/>
          </a:p>
        </p:txBody>
      </p:sp>
      <p:sp>
        <p:nvSpPr>
          <p:cNvPr id="10" name="Why body"/>
          <p:cNvSpPr txBox="1"/>
          <p:nvPr/>
        </p:nvSpPr>
        <p:spPr>
          <a:xfrm>
            <a:off x="3493008" y="173736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Unfair, unpredictable turnaround times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Essential low-priority tasks (logging, cleanup) never finish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Reduced system reliability</a:t>
            </a:r>
            <a:endParaRPr lang="en-US" sz="1400" dirty="0"/>
          </a:p>
        </p:txBody>
      </p:sp>
      <p:sp>
        <p:nvSpPr>
          <p:cNvPr id="11" name="Need card"/>
          <p:cNvSpPr/>
          <p:nvPr/>
        </p:nvSpPr>
        <p:spPr>
          <a:xfrm>
            <a:off x="6080760" y="1234440"/>
            <a:ext cx="2560320" cy="310896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Need accent"/>
          <p:cNvSpPr/>
          <p:nvPr/>
        </p:nvSpPr>
        <p:spPr>
          <a:xfrm>
            <a:off x="6080760" y="1234440"/>
            <a:ext cx="64008" cy="31089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Need head"/>
          <p:cNvSpPr txBox="1"/>
          <p:nvPr/>
        </p:nvSpPr>
        <p:spPr>
          <a:xfrm>
            <a:off x="6281928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we need</a:t>
            </a:r>
            <a:endParaRPr lang="en-US" sz="1600" dirty="0"/>
          </a:p>
        </p:txBody>
      </p:sp>
      <p:sp>
        <p:nvSpPr>
          <p:cNvPr id="14" name="Need body"/>
          <p:cNvSpPr txBox="1"/>
          <p:nvPr/>
        </p:nvSpPr>
        <p:spPr>
          <a:xfrm>
            <a:off x="6281928" y="173736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Honor priorities for urgent work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Guarantee waiting processes eventually run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Keep CPU utilization efficient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Project Objectives</a:t>
            </a:r>
            <a:endParaRPr lang="en-US" sz="2600" dirty="0"/>
          </a:p>
        </p:txBody>
      </p:sp>
      <p:sp>
        <p:nvSpPr>
          <p:cNvPr id="3" name="Objective 1 card"/>
          <p:cNvSpPr/>
          <p:nvPr/>
        </p:nvSpPr>
        <p:spPr>
          <a:xfrm>
            <a:off x="502920" y="1234440"/>
            <a:ext cx="256032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Objective 1 accent"/>
          <p:cNvSpPr/>
          <p:nvPr/>
        </p:nvSpPr>
        <p:spPr>
          <a:xfrm>
            <a:off x="502920" y="1234440"/>
            <a:ext cx="64008" cy="14630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Objective 1 head"/>
          <p:cNvSpPr txBox="1"/>
          <p:nvPr/>
        </p:nvSpPr>
        <p:spPr>
          <a:xfrm>
            <a:off x="704088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  Scheduler</a:t>
            </a:r>
            <a:endParaRPr lang="en-US" sz="1600" dirty="0"/>
          </a:p>
        </p:txBody>
      </p:sp>
      <p:sp>
        <p:nvSpPr>
          <p:cNvPr id="6" name="Objective 1 body"/>
          <p:cNvSpPr txBox="1"/>
          <p:nvPr/>
        </p:nvSpPr>
        <p:spPr>
          <a:xfrm>
            <a:off x="704088" y="1737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Preemptive priority simulation</a:t>
            </a:r>
            <a:endParaRPr lang="en-US" sz="1400" dirty="0"/>
          </a:p>
        </p:txBody>
      </p:sp>
      <p:sp>
        <p:nvSpPr>
          <p:cNvPr id="7" name="Objective 2 card"/>
          <p:cNvSpPr/>
          <p:nvPr/>
        </p:nvSpPr>
        <p:spPr>
          <a:xfrm>
            <a:off x="3291840" y="1234440"/>
            <a:ext cx="256032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Objective 2 accent"/>
          <p:cNvSpPr/>
          <p:nvPr/>
        </p:nvSpPr>
        <p:spPr>
          <a:xfrm>
            <a:off x="3291840" y="1234440"/>
            <a:ext cx="64008" cy="14630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Objective 2 head"/>
          <p:cNvSpPr txBox="1"/>
          <p:nvPr/>
        </p:nvSpPr>
        <p:spPr>
          <a:xfrm>
            <a:off x="3493008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  Aging</a:t>
            </a:r>
            <a:endParaRPr lang="en-US" sz="1600" dirty="0"/>
          </a:p>
        </p:txBody>
      </p:sp>
      <p:sp>
        <p:nvSpPr>
          <p:cNvPr id="10" name="Objective 2 body"/>
          <p:cNvSpPr txBox="1"/>
          <p:nvPr/>
        </p:nvSpPr>
        <p:spPr>
          <a:xfrm>
            <a:off x="3493008" y="1737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Wait-time driven priority boost</a:t>
            </a:r>
            <a:endParaRPr lang="en-US" sz="1400" dirty="0"/>
          </a:p>
        </p:txBody>
      </p:sp>
      <p:sp>
        <p:nvSpPr>
          <p:cNvPr id="11" name="Objective 3 card"/>
          <p:cNvSpPr/>
          <p:nvPr/>
        </p:nvSpPr>
        <p:spPr>
          <a:xfrm>
            <a:off x="6080760" y="1234440"/>
            <a:ext cx="256032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Objective 3 accent"/>
          <p:cNvSpPr/>
          <p:nvPr/>
        </p:nvSpPr>
        <p:spPr>
          <a:xfrm>
            <a:off x="6080760" y="1234440"/>
            <a:ext cx="64008" cy="14630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Objective 3 head"/>
          <p:cNvSpPr txBox="1"/>
          <p:nvPr/>
        </p:nvSpPr>
        <p:spPr>
          <a:xfrm>
            <a:off x="6281928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  Metrics</a:t>
            </a:r>
            <a:endParaRPr lang="en-US" sz="1600" dirty="0"/>
          </a:p>
        </p:txBody>
      </p:sp>
      <p:sp>
        <p:nvSpPr>
          <p:cNvPr id="14" name="Objective 3 body"/>
          <p:cNvSpPr txBox="1"/>
          <p:nvPr/>
        </p:nvSpPr>
        <p:spPr>
          <a:xfrm>
            <a:off x="6281928" y="1737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Gantt slices, waiting and turnaround times</a:t>
            </a:r>
            <a:endParaRPr lang="en-US" sz="1400" dirty="0"/>
          </a:p>
        </p:txBody>
      </p:sp>
      <p:sp>
        <p:nvSpPr>
          <p:cNvPr id="15" name="Objective 4 card"/>
          <p:cNvSpPr/>
          <p:nvPr/>
        </p:nvSpPr>
        <p:spPr>
          <a:xfrm>
            <a:off x="502920" y="2880360"/>
            <a:ext cx="256032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Objective 4 accent"/>
          <p:cNvSpPr/>
          <p:nvPr/>
        </p:nvSpPr>
        <p:spPr>
          <a:xfrm>
            <a:off x="502920" y="2880360"/>
            <a:ext cx="64008" cy="14630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Objective 4 head"/>
          <p:cNvSpPr txBox="1"/>
          <p:nvPr/>
        </p:nvSpPr>
        <p:spPr>
          <a:xfrm>
            <a:off x="704088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  Workloads</a:t>
            </a:r>
            <a:endParaRPr lang="en-US" sz="1600" dirty="0"/>
          </a:p>
        </p:txBody>
      </p:sp>
      <p:sp>
        <p:nvSpPr>
          <p:cNvPr id="18" name="Objective 4 body"/>
          <p:cNvSpPr txBox="1"/>
          <p:nvPr/>
        </p:nvSpPr>
        <p:spPr>
          <a:xfrm>
            <a:off x="704088" y="33832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Random generator for robustness tests</a:t>
            </a:r>
            <a:endParaRPr lang="en-US" sz="1400" dirty="0"/>
          </a:p>
        </p:txBody>
      </p:sp>
      <p:sp>
        <p:nvSpPr>
          <p:cNvPr id="19" name="Objective 5 card"/>
          <p:cNvSpPr/>
          <p:nvPr/>
        </p:nvSpPr>
        <p:spPr>
          <a:xfrm>
            <a:off x="3291840" y="2880360"/>
            <a:ext cx="256032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Objective 5 accent"/>
          <p:cNvSpPr/>
          <p:nvPr/>
        </p:nvSpPr>
        <p:spPr>
          <a:xfrm>
            <a:off x="3291840" y="2880360"/>
            <a:ext cx="64008" cy="14630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1" name="Objective 5 head"/>
          <p:cNvSpPr txBox="1"/>
          <p:nvPr/>
        </p:nvSpPr>
        <p:spPr>
          <a:xfrm>
            <a:off x="3493008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  Verification</a:t>
            </a:r>
            <a:endParaRPr lang="en-US" sz="1600" dirty="0"/>
          </a:p>
        </p:txBody>
      </p:sp>
      <p:sp>
        <p:nvSpPr>
          <p:cNvPr id="22" name="Objective 5 body"/>
          <p:cNvSpPr txBox="1"/>
          <p:nvPr/>
        </p:nvSpPr>
        <p:spPr>
          <a:xfrm>
            <a:off x="3493008" y="33832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Independent schedule validator</a:t>
            </a:r>
            <a:endParaRPr lang="en-US" sz="1400" dirty="0"/>
          </a:p>
        </p:txBody>
      </p:sp>
      <p:sp>
        <p:nvSpPr>
          <p:cNvPr id="23" name="Objective 6 card"/>
          <p:cNvSpPr/>
          <p:nvPr/>
        </p:nvSpPr>
        <p:spPr>
          <a:xfrm>
            <a:off x="6080760" y="2880360"/>
            <a:ext cx="256032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Objective 6 accent"/>
          <p:cNvSpPr/>
          <p:nvPr/>
        </p:nvSpPr>
        <p:spPr>
          <a:xfrm>
            <a:off x="6080760" y="2880360"/>
            <a:ext cx="64008" cy="14630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5" name="Objective 6 head"/>
          <p:cNvSpPr txBox="1"/>
          <p:nvPr/>
        </p:nvSpPr>
        <p:spPr>
          <a:xfrm>
            <a:off x="6281928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  Dashboard</a:t>
            </a:r>
            <a:endParaRPr lang="en-US" sz="1600" dirty="0"/>
          </a:p>
        </p:txBody>
      </p:sp>
      <p:sp>
        <p:nvSpPr>
          <p:cNvPr id="26" name="Objective 6 body"/>
          <p:cNvSpPr txBox="1"/>
          <p:nvPr/>
        </p:nvSpPr>
        <p:spPr>
          <a:xfrm>
            <a:off x="6281928" y="33832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Visual GUI with fixed vs dynamic comparison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Proposed Solution: The Algorithm</a:t>
            </a:r>
            <a:endParaRPr lang="en-US" sz="2600" dirty="0"/>
          </a:p>
        </p:txBody>
      </p:sp>
      <p:sp>
        <p:nvSpPr>
          <p:cNvPr id="3" name="Base priority card"/>
          <p:cNvSpPr/>
          <p:nvPr/>
        </p:nvSpPr>
        <p:spPr>
          <a:xfrm>
            <a:off x="502920" y="1234440"/>
            <a:ext cx="397764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Base priority accent"/>
          <p:cNvSpPr/>
          <p:nvPr/>
        </p:nvSpPr>
        <p:spPr>
          <a:xfrm>
            <a:off x="502920" y="1234440"/>
            <a:ext cx="64008" cy="14630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Base priority head"/>
          <p:cNvSpPr txBox="1"/>
          <p:nvPr/>
        </p:nvSpPr>
        <p:spPr>
          <a:xfrm>
            <a:off x="704088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Base priority</a:t>
            </a:r>
            <a:endParaRPr lang="en-US" sz="1600" dirty="0"/>
          </a:p>
        </p:txBody>
      </p:sp>
      <p:sp>
        <p:nvSpPr>
          <p:cNvPr id="6" name="Base priority body"/>
          <p:cNvSpPr txBox="1"/>
          <p:nvPr/>
        </p:nvSpPr>
        <p:spPr>
          <a:xfrm>
            <a:off x="704088" y="17373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Lower number = higher priority (P1 is highest)</a:t>
            </a:r>
            <a:endParaRPr lang="en-US" sz="1400" dirty="0"/>
          </a:p>
        </p:txBody>
      </p:sp>
      <p:sp>
        <p:nvSpPr>
          <p:cNvPr id="7" name="Time quantum card"/>
          <p:cNvSpPr/>
          <p:nvPr/>
        </p:nvSpPr>
        <p:spPr>
          <a:xfrm>
            <a:off x="4663440" y="1234440"/>
            <a:ext cx="397764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ime quantum accent"/>
          <p:cNvSpPr/>
          <p:nvPr/>
        </p:nvSpPr>
        <p:spPr>
          <a:xfrm>
            <a:off x="4663440" y="1234440"/>
            <a:ext cx="64008" cy="14630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ime quantum head"/>
          <p:cNvSpPr txBox="1"/>
          <p:nvPr/>
        </p:nvSpPr>
        <p:spPr>
          <a:xfrm>
            <a:off x="4864608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Time quantum</a:t>
            </a:r>
            <a:endParaRPr lang="en-US" sz="1600" dirty="0"/>
          </a:p>
        </p:txBody>
      </p:sp>
      <p:sp>
        <p:nvSpPr>
          <p:cNvPr id="10" name="Time quantum body"/>
          <p:cNvSpPr txBox="1"/>
          <p:nvPr/>
        </p:nvSpPr>
        <p:spPr>
          <a:xfrm>
            <a:off x="4864608" y="17373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Ready queue re-evaluated every 2 time units</a:t>
            </a:r>
            <a:endParaRPr lang="en-US" sz="1400" dirty="0"/>
          </a:p>
        </p:txBody>
      </p:sp>
      <p:sp>
        <p:nvSpPr>
          <p:cNvPr id="11" name="Preemption card"/>
          <p:cNvSpPr/>
          <p:nvPr/>
        </p:nvSpPr>
        <p:spPr>
          <a:xfrm>
            <a:off x="502920" y="2880360"/>
            <a:ext cx="397764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Preemption accent"/>
          <p:cNvSpPr/>
          <p:nvPr/>
        </p:nvSpPr>
        <p:spPr>
          <a:xfrm>
            <a:off x="502920" y="2880360"/>
            <a:ext cx="64008" cy="14630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Preemption head"/>
          <p:cNvSpPr txBox="1"/>
          <p:nvPr/>
        </p:nvSpPr>
        <p:spPr>
          <a:xfrm>
            <a:off x="704088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Preemption</a:t>
            </a:r>
            <a:endParaRPr lang="en-US" sz="1600" dirty="0"/>
          </a:p>
        </p:txBody>
      </p:sp>
      <p:sp>
        <p:nvSpPr>
          <p:cNvPr id="14" name="Preemption body"/>
          <p:cNvSpPr txBox="1"/>
          <p:nvPr/>
        </p:nvSpPr>
        <p:spPr>
          <a:xfrm>
            <a:off x="704088" y="33832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Running process yields only to a strictly higher priority arrival</a:t>
            </a:r>
            <a:endParaRPr lang="en-US" sz="1400" dirty="0"/>
          </a:p>
        </p:txBody>
      </p:sp>
      <p:sp>
        <p:nvSpPr>
          <p:cNvPr id="15" name="Dynamic aging card"/>
          <p:cNvSpPr/>
          <p:nvPr/>
        </p:nvSpPr>
        <p:spPr>
          <a:xfrm>
            <a:off x="4663440" y="2880360"/>
            <a:ext cx="397764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Dynamic aging accent"/>
          <p:cNvSpPr/>
          <p:nvPr/>
        </p:nvSpPr>
        <p:spPr>
          <a:xfrm>
            <a:off x="4663440" y="2880360"/>
            <a:ext cx="64008" cy="14630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Dynamic aging head"/>
          <p:cNvSpPr txBox="1"/>
          <p:nvPr/>
        </p:nvSpPr>
        <p:spPr>
          <a:xfrm>
            <a:off x="4864608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Dynamic aging</a:t>
            </a:r>
            <a:endParaRPr lang="en-US" sz="1600" dirty="0"/>
          </a:p>
        </p:txBody>
      </p:sp>
      <p:sp>
        <p:nvSpPr>
          <p:cNvPr id="18" name="Dynamic aging body"/>
          <p:cNvSpPr txBox="1"/>
          <p:nvPr/>
        </p:nvSpPr>
        <p:spPr>
          <a:xfrm>
            <a:off x="4864608" y="33832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Priority improves as waiting time grows, so starvation fades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Dynamic Aging Formula</a:t>
            </a:r>
            <a:endParaRPr lang="en-US" sz="2600" dirty="0"/>
          </a:p>
        </p:txBody>
      </p:sp>
      <p:sp>
        <p:nvSpPr>
          <p:cNvPr id="3" name="Formula banner"/>
          <p:cNvSpPr/>
          <p:nvPr/>
        </p:nvSpPr>
        <p:spPr>
          <a:xfrm>
            <a:off x="502920" y="1188720"/>
            <a:ext cx="81381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4" name="Formula text"/>
          <p:cNvSpPr txBox="1"/>
          <p:nvPr/>
        </p:nvSpPr>
        <p:spPr>
          <a:xfrm>
            <a:off x="68580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effective_priority = base_priority − (wait_time / aging_interval) × aging_step</a:t>
            </a:r>
            <a:endParaRPr lang="en-US" sz="1900" dirty="0"/>
          </a:p>
        </p:txBody>
      </p:sp>
      <p:sp>
        <p:nvSpPr>
          <p:cNvPr id="5" name="Stat card 1"/>
          <p:cNvSpPr/>
          <p:nvPr/>
        </p:nvSpPr>
        <p:spPr>
          <a:xfrm>
            <a:off x="502920" y="2423160"/>
            <a:ext cx="2560320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tat value 1"/>
          <p:cNvSpPr txBox="1"/>
          <p:nvPr/>
        </p:nvSpPr>
        <p:spPr>
          <a:xfrm>
            <a:off x="502920" y="2514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6"/>
                </a:solidFill>
              </a:rPr>
              <a:t>8</a:t>
            </a:r>
            <a:endParaRPr lang="en-US" sz="4400" dirty="0"/>
          </a:p>
        </p:txBody>
      </p:sp>
      <p:sp>
        <p:nvSpPr>
          <p:cNvPr id="7" name="Stat label 1"/>
          <p:cNvSpPr txBox="1"/>
          <p:nvPr/>
        </p:nvSpPr>
        <p:spPr>
          <a:xfrm>
            <a:off x="50292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Base priority</a:t>
            </a:r>
            <a:endParaRPr lang="en-US" sz="1300" dirty="0"/>
          </a:p>
        </p:txBody>
      </p:sp>
      <p:sp>
        <p:nvSpPr>
          <p:cNvPr id="8" name="Stat card 2"/>
          <p:cNvSpPr/>
          <p:nvPr/>
        </p:nvSpPr>
        <p:spPr>
          <a:xfrm>
            <a:off x="3291840" y="2423160"/>
            <a:ext cx="2560320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tat value 2"/>
          <p:cNvSpPr txBox="1"/>
          <p:nvPr/>
        </p:nvSpPr>
        <p:spPr>
          <a:xfrm>
            <a:off x="3291840" y="2514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20</a:t>
            </a:r>
            <a:endParaRPr lang="en-US" sz="4400" dirty="0"/>
          </a:p>
        </p:txBody>
      </p:sp>
      <p:sp>
        <p:nvSpPr>
          <p:cNvPr id="10" name="Stat label 2"/>
          <p:cNvSpPr txBox="1"/>
          <p:nvPr/>
        </p:nvSpPr>
        <p:spPr>
          <a:xfrm>
            <a:off x="329184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Wait time units</a:t>
            </a:r>
            <a:endParaRPr lang="en-US" sz="1300" dirty="0"/>
          </a:p>
        </p:txBody>
      </p:sp>
      <p:sp>
        <p:nvSpPr>
          <p:cNvPr id="11" name="Stat card 3"/>
          <p:cNvSpPr/>
          <p:nvPr/>
        </p:nvSpPr>
        <p:spPr>
          <a:xfrm>
            <a:off x="6080760" y="2423160"/>
            <a:ext cx="2560320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tat value 3"/>
          <p:cNvSpPr txBox="1"/>
          <p:nvPr/>
        </p:nvSpPr>
        <p:spPr>
          <a:xfrm>
            <a:off x="6080760" y="2514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4</a:t>
            </a:r>
            <a:endParaRPr lang="en-US" sz="4400" dirty="0"/>
          </a:p>
        </p:txBody>
      </p:sp>
      <p:sp>
        <p:nvSpPr>
          <p:cNvPr id="13" name="Stat label 3"/>
          <p:cNvSpPr txBox="1"/>
          <p:nvPr/>
        </p:nvSpPr>
        <p:spPr>
          <a:xfrm>
            <a:off x="608076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Effective priority</a:t>
            </a:r>
            <a:endParaRPr lang="en-US" sz="1300" dirty="0"/>
          </a:p>
        </p:txBody>
      </p:sp>
      <p:sp>
        <p:nvSpPr>
          <p:cNvPr id="14" name="Formula note"/>
          <p:cNvSpPr txBox="1"/>
          <p:nvPr/>
        </p:nvSpPr>
        <p:spPr>
          <a:xfrm>
            <a:off x="502920" y="40690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Example with aging_interval = 5 and aging_step = 1: 8 − (20/5) × 1 = 4. Result is clamped at 1; integer division gives discrete steps.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3" name="Module dpa_gen.c"/>
          <p:cNvSpPr/>
          <p:nvPr/>
        </p:nvSpPr>
        <p:spPr>
          <a:xfrm>
            <a:off x="502920" y="1463040"/>
            <a:ext cx="1783080" cy="1554480"/>
          </a:xfrm>
          <a:prstGeom prst="roundRect">
            <a:avLst>
              <a:gd name="adj" fmla="val 4706"/>
            </a:avLst>
          </a:prstGeom>
          <a:solidFill>
            <a:schemeClr val="accent2"/>
          </a:solidFill>
          <a:ln/>
        </p:spPr>
      </p:sp>
      <p:sp>
        <p:nvSpPr>
          <p:cNvPr id="4" name="Module label dpa_gen.c"/>
          <p:cNvSpPr txBox="1"/>
          <p:nvPr/>
        </p:nvSpPr>
        <p:spPr>
          <a:xfrm>
            <a:off x="502920" y="1463040"/>
            <a:ext cx="1783080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Workload Generator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dpa_gen.c</a:t>
            </a:r>
            <a:endParaRPr lang="en-US" sz="1500" dirty="0"/>
          </a:p>
        </p:txBody>
      </p:sp>
      <p:sp>
        <p:nvSpPr>
          <p:cNvPr id="5" name="Arrow 1"/>
          <p:cNvSpPr/>
          <p:nvPr/>
        </p:nvSpPr>
        <p:spPr>
          <a:xfrm>
            <a:off x="2331720" y="2103120"/>
            <a:ext cx="27432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6" name="Module dpa_core.c"/>
          <p:cNvSpPr/>
          <p:nvPr/>
        </p:nvSpPr>
        <p:spPr>
          <a:xfrm>
            <a:off x="2651760" y="1463040"/>
            <a:ext cx="1783080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/>
        </p:spPr>
      </p:sp>
      <p:sp>
        <p:nvSpPr>
          <p:cNvPr id="7" name="Module label dpa_core.c"/>
          <p:cNvSpPr txBox="1"/>
          <p:nvPr/>
        </p:nvSpPr>
        <p:spPr>
          <a:xfrm>
            <a:off x="2651760" y="1463040"/>
            <a:ext cx="1783080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Scheduling Engine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dpa_core.c</a:t>
            </a:r>
            <a:endParaRPr lang="en-US" sz="1500" dirty="0"/>
          </a:p>
        </p:txBody>
      </p:sp>
      <p:sp>
        <p:nvSpPr>
          <p:cNvPr id="8" name="Arrow 2"/>
          <p:cNvSpPr/>
          <p:nvPr/>
        </p:nvSpPr>
        <p:spPr>
          <a:xfrm>
            <a:off x="4480560" y="2103120"/>
            <a:ext cx="27432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9" name="Module dpa_verify.c"/>
          <p:cNvSpPr/>
          <p:nvPr/>
        </p:nvSpPr>
        <p:spPr>
          <a:xfrm>
            <a:off x="4800600" y="1463040"/>
            <a:ext cx="1783080" cy="1554480"/>
          </a:xfrm>
          <a:prstGeom prst="roundRect">
            <a:avLst>
              <a:gd name="adj" fmla="val 4706"/>
            </a:avLst>
          </a:prstGeom>
          <a:solidFill>
            <a:schemeClr val="accent3"/>
          </a:solidFill>
          <a:ln/>
        </p:spPr>
      </p:sp>
      <p:sp>
        <p:nvSpPr>
          <p:cNvPr id="10" name="Module label dpa_verify.c"/>
          <p:cNvSpPr txBox="1"/>
          <p:nvPr/>
        </p:nvSpPr>
        <p:spPr>
          <a:xfrm>
            <a:off x="4800600" y="1463040"/>
            <a:ext cx="1783080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Schedule Verifier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dpa_verify.c</a:t>
            </a:r>
            <a:endParaRPr lang="en-US" sz="1500" dirty="0"/>
          </a:p>
        </p:txBody>
      </p:sp>
      <p:sp>
        <p:nvSpPr>
          <p:cNvPr id="11" name="Arrow 3"/>
          <p:cNvSpPr/>
          <p:nvPr/>
        </p:nvSpPr>
        <p:spPr>
          <a:xfrm>
            <a:off x="6629400" y="2103120"/>
            <a:ext cx="27432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2" name="Module dpa_dash.py"/>
          <p:cNvSpPr/>
          <p:nvPr/>
        </p:nvSpPr>
        <p:spPr>
          <a:xfrm>
            <a:off x="6949440" y="1463040"/>
            <a:ext cx="1783080" cy="1554480"/>
          </a:xfrm>
          <a:prstGeom prst="roundRect">
            <a:avLst>
              <a:gd name="adj" fmla="val 4706"/>
            </a:avLst>
          </a:prstGeom>
          <a:solidFill>
            <a:schemeClr val="accent4"/>
          </a:solidFill>
          <a:ln/>
        </p:spPr>
      </p:sp>
      <p:sp>
        <p:nvSpPr>
          <p:cNvPr id="13" name="Module label dpa_dash.py"/>
          <p:cNvSpPr txBox="1"/>
          <p:nvPr/>
        </p:nvSpPr>
        <p:spPr>
          <a:xfrm>
            <a:off x="6949440" y="1463040"/>
            <a:ext cx="1783080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Dashboard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dpa_dash.py</a:t>
            </a:r>
            <a:endParaRPr lang="en-US" sz="1500" dirty="0"/>
          </a:p>
        </p:txBody>
      </p:sp>
      <p:sp>
        <p:nvSpPr>
          <p:cNvPr id="14" name="Architecture caption"/>
          <p:cNvSpPr txBox="1"/>
          <p:nvPr/>
        </p:nvSpPr>
        <p:spPr>
          <a:xfrm>
            <a:off x="502920" y="33832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Generator creates workloads, the engine simulates and emits Gantt slices and metrics, the verifier checks the result, and the dashboard drives the pipeline and displays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Scheduling Engine (dpa_core.c)</a:t>
            </a:r>
            <a:endParaRPr lang="en-US" sz="2600" dirty="0"/>
          </a:p>
        </p:txBody>
      </p:sp>
      <p:sp>
        <p:nvSpPr>
          <p:cNvPr id="3" name="Engine card"/>
          <p:cNvSpPr/>
          <p:nvPr/>
        </p:nvSpPr>
        <p:spPr>
          <a:xfrm>
            <a:off x="502920" y="1234440"/>
            <a:ext cx="4480560" cy="3200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Engine accent"/>
          <p:cNvSpPr/>
          <p:nvPr/>
        </p:nvSpPr>
        <p:spPr>
          <a:xfrm>
            <a:off x="502920" y="1234440"/>
            <a:ext cx="64008" cy="3200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Engine head"/>
          <p:cNvSpPr txBox="1"/>
          <p:nvPr/>
        </p:nvSpPr>
        <p:spPr>
          <a:xfrm>
            <a:off x="704088" y="13258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Responsibilities</a:t>
            </a:r>
            <a:endParaRPr lang="en-US" sz="1600" dirty="0"/>
          </a:p>
        </p:txBody>
      </p:sp>
      <p:sp>
        <p:nvSpPr>
          <p:cNvPr id="6" name="Engine body"/>
          <p:cNvSpPr txBox="1"/>
          <p:nvPr/>
        </p:nvSpPr>
        <p:spPr>
          <a:xfrm>
            <a:off x="704088" y="1737360"/>
            <a:ext cx="4160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Tracks remaining burst and wait time per process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Recomputes effective priorities at each decision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Emits Gantt slices, including idle periods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Logs arrivals, selections, preemptions, completions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Runs in fixed or dynamic mode for comparison</a:t>
            </a:r>
            <a:endParaRPr lang="en-US" sz="1400" dirty="0"/>
          </a:p>
        </p:txBody>
      </p:sp>
      <p:sp>
        <p:nvSpPr>
          <p:cNvPr id="7" name="Turnaround card"/>
          <p:cNvSpPr/>
          <p:nvPr/>
        </p:nvSpPr>
        <p:spPr>
          <a:xfrm>
            <a:off x="5212080" y="1234440"/>
            <a:ext cx="342900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urnaround accent"/>
          <p:cNvSpPr/>
          <p:nvPr/>
        </p:nvSpPr>
        <p:spPr>
          <a:xfrm>
            <a:off x="5212080" y="1234440"/>
            <a:ext cx="64008" cy="14630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urnaround head"/>
          <p:cNvSpPr txBox="1"/>
          <p:nvPr/>
        </p:nvSpPr>
        <p:spPr>
          <a:xfrm>
            <a:off x="5413248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Turnaround time</a:t>
            </a:r>
            <a:endParaRPr lang="en-US" sz="1600" dirty="0"/>
          </a:p>
        </p:txBody>
      </p:sp>
      <p:sp>
        <p:nvSpPr>
          <p:cNvPr id="10" name="Turnaround body"/>
          <p:cNvSpPr txBox="1"/>
          <p:nvPr/>
        </p:nvSpPr>
        <p:spPr>
          <a:xfrm>
            <a:off x="5413248" y="17373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Completion time − arrival time</a:t>
            </a:r>
            <a:endParaRPr lang="en-US" sz="1400" dirty="0"/>
          </a:p>
        </p:txBody>
      </p:sp>
      <p:sp>
        <p:nvSpPr>
          <p:cNvPr id="11" name="Waiting card"/>
          <p:cNvSpPr/>
          <p:nvPr/>
        </p:nvSpPr>
        <p:spPr>
          <a:xfrm>
            <a:off x="5212080" y="2971800"/>
            <a:ext cx="342900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Waiting accent"/>
          <p:cNvSpPr/>
          <p:nvPr/>
        </p:nvSpPr>
        <p:spPr>
          <a:xfrm>
            <a:off x="5212080" y="2971800"/>
            <a:ext cx="64008" cy="14630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Waiting head"/>
          <p:cNvSpPr txBox="1"/>
          <p:nvPr/>
        </p:nvSpPr>
        <p:spPr>
          <a:xfrm>
            <a:off x="5413248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Waiting time</a:t>
            </a:r>
            <a:endParaRPr lang="en-US" sz="1600" dirty="0"/>
          </a:p>
        </p:txBody>
      </p:sp>
      <p:sp>
        <p:nvSpPr>
          <p:cNvPr id="14" name="Waiting body"/>
          <p:cNvSpPr txBox="1"/>
          <p:nvPr/>
        </p:nvSpPr>
        <p:spPr>
          <a:xfrm>
            <a:off x="5413248" y="34747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Turnaround time − burst time, averaged across all processes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Workload Generator and Verifier</a:t>
            </a:r>
            <a:endParaRPr lang="en-US" sz="2600" dirty="0"/>
          </a:p>
        </p:txBody>
      </p:sp>
      <p:sp>
        <p:nvSpPr>
          <p:cNvPr id="3" name="Generator card"/>
          <p:cNvSpPr/>
          <p:nvPr/>
        </p:nvSpPr>
        <p:spPr>
          <a:xfrm>
            <a:off x="502920" y="1234440"/>
            <a:ext cx="3977640" cy="3200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Generator accent"/>
          <p:cNvSpPr/>
          <p:nvPr/>
        </p:nvSpPr>
        <p:spPr>
          <a:xfrm>
            <a:off x="502920" y="1234440"/>
            <a:ext cx="64008" cy="32004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Generator head"/>
          <p:cNvSpPr txBox="1"/>
          <p:nvPr/>
        </p:nvSpPr>
        <p:spPr>
          <a:xfrm>
            <a:off x="704088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Generator (dpa_gen.c)</a:t>
            </a:r>
            <a:endParaRPr lang="en-US" sz="1600" dirty="0"/>
          </a:p>
        </p:txBody>
      </p:sp>
      <p:sp>
        <p:nvSpPr>
          <p:cNvPr id="6" name="Generator body"/>
          <p:cNvSpPr txBox="1"/>
          <p:nvPr/>
        </p:nvSpPr>
        <p:spPr>
          <a:xfrm>
            <a:off x="704088" y="173736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Random arrival, burst and priority values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Large priority gaps stress starvation cases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Seeded runs make workloads reproducible</a:t>
            </a:r>
            <a:endParaRPr lang="en-US" sz="1400" dirty="0"/>
          </a:p>
        </p:txBody>
      </p:sp>
      <p:sp>
        <p:nvSpPr>
          <p:cNvPr id="7" name="Verifier card"/>
          <p:cNvSpPr/>
          <p:nvPr/>
        </p:nvSpPr>
        <p:spPr>
          <a:xfrm>
            <a:off x="4663440" y="1234440"/>
            <a:ext cx="3977640" cy="3200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Verifier accent"/>
          <p:cNvSpPr/>
          <p:nvPr/>
        </p:nvSpPr>
        <p:spPr>
          <a:xfrm>
            <a:off x="4663440" y="1234440"/>
            <a:ext cx="64008" cy="32004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Verifier head"/>
          <p:cNvSpPr txBox="1"/>
          <p:nvPr/>
        </p:nvSpPr>
        <p:spPr>
          <a:xfrm>
            <a:off x="4864608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Verifier (dpa_verify.c)</a:t>
            </a:r>
            <a:endParaRPr lang="en-US" sz="1600" dirty="0"/>
          </a:p>
        </p:txBody>
      </p:sp>
      <p:sp>
        <p:nvSpPr>
          <p:cNvPr id="10" name="Verifier body"/>
          <p:cNvSpPr txBox="1"/>
          <p:nvPr/>
        </p:nvSpPr>
        <p:spPr>
          <a:xfrm>
            <a:off x="4864608" y="173736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No slice overlaps on the CPU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Each process’s slices sum to its burst time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No process runs before arrival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Reported metrics match values recomputed from slices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Interactive Dashboard (dpa_dash.py)</a:t>
            </a:r>
            <a:endParaRPr lang="en-US" sz="2600" dirty="0"/>
          </a:p>
        </p:txBody>
      </p:sp>
      <p:sp>
        <p:nvSpPr>
          <p:cNvPr id="3" name="Gantt chart card"/>
          <p:cNvSpPr/>
          <p:nvPr/>
        </p:nvSpPr>
        <p:spPr>
          <a:xfrm>
            <a:off x="502920" y="1234440"/>
            <a:ext cx="256032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Gantt chart accent"/>
          <p:cNvSpPr/>
          <p:nvPr/>
        </p:nvSpPr>
        <p:spPr>
          <a:xfrm>
            <a:off x="502920" y="1234440"/>
            <a:ext cx="64008" cy="14630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Gantt chart head"/>
          <p:cNvSpPr txBox="1"/>
          <p:nvPr/>
        </p:nvSpPr>
        <p:spPr>
          <a:xfrm>
            <a:off x="704088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Gantt chart</a:t>
            </a:r>
            <a:endParaRPr lang="en-US" sz="1600" dirty="0"/>
          </a:p>
        </p:txBody>
      </p:sp>
      <p:sp>
        <p:nvSpPr>
          <p:cNvPr id="6" name="Gantt chart body"/>
          <p:cNvSpPr txBox="1"/>
          <p:nvPr/>
        </p:nvSpPr>
        <p:spPr>
          <a:xfrm>
            <a:off x="704088" y="1737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Color-coded timelines with idle periods</a:t>
            </a:r>
            <a:endParaRPr lang="en-US" sz="1400" dirty="0"/>
          </a:p>
        </p:txBody>
      </p:sp>
      <p:sp>
        <p:nvSpPr>
          <p:cNvPr id="7" name="Live metrics card"/>
          <p:cNvSpPr/>
          <p:nvPr/>
        </p:nvSpPr>
        <p:spPr>
          <a:xfrm>
            <a:off x="3291840" y="1234440"/>
            <a:ext cx="256032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Live metrics accent"/>
          <p:cNvSpPr/>
          <p:nvPr/>
        </p:nvSpPr>
        <p:spPr>
          <a:xfrm>
            <a:off x="3291840" y="1234440"/>
            <a:ext cx="64008" cy="14630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9" name="Live metrics head"/>
          <p:cNvSpPr txBox="1"/>
          <p:nvPr/>
        </p:nvSpPr>
        <p:spPr>
          <a:xfrm>
            <a:off x="3493008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Live metrics</a:t>
            </a:r>
            <a:endParaRPr lang="en-US" sz="1600" dirty="0"/>
          </a:p>
        </p:txBody>
      </p:sp>
      <p:sp>
        <p:nvSpPr>
          <p:cNvPr id="10" name="Live metrics body"/>
          <p:cNvSpPr txBox="1"/>
          <p:nvPr/>
        </p:nvSpPr>
        <p:spPr>
          <a:xfrm>
            <a:off x="3493008" y="1737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Average waiting and turnaround time</a:t>
            </a:r>
            <a:endParaRPr lang="en-US" sz="1400" dirty="0"/>
          </a:p>
        </p:txBody>
      </p:sp>
      <p:sp>
        <p:nvSpPr>
          <p:cNvPr id="11" name="Process table card"/>
          <p:cNvSpPr/>
          <p:nvPr/>
        </p:nvSpPr>
        <p:spPr>
          <a:xfrm>
            <a:off x="6080760" y="1234440"/>
            <a:ext cx="256032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Process table accent"/>
          <p:cNvSpPr/>
          <p:nvPr/>
        </p:nvSpPr>
        <p:spPr>
          <a:xfrm>
            <a:off x="6080760" y="1234440"/>
            <a:ext cx="64008" cy="14630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Process table head"/>
          <p:cNvSpPr txBox="1"/>
          <p:nvPr/>
        </p:nvSpPr>
        <p:spPr>
          <a:xfrm>
            <a:off x="6281928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Process table</a:t>
            </a:r>
            <a:endParaRPr lang="en-US" sz="1600" dirty="0"/>
          </a:p>
        </p:txBody>
      </p:sp>
      <p:sp>
        <p:nvSpPr>
          <p:cNvPr id="14" name="Process table body"/>
          <p:cNvSpPr txBox="1"/>
          <p:nvPr/>
        </p:nvSpPr>
        <p:spPr>
          <a:xfrm>
            <a:off x="6281928" y="1737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Per-process statistics</a:t>
            </a:r>
            <a:endParaRPr lang="en-US" sz="1400" dirty="0"/>
          </a:p>
        </p:txBody>
      </p:sp>
      <p:sp>
        <p:nvSpPr>
          <p:cNvPr id="15" name="Comparison mode card"/>
          <p:cNvSpPr/>
          <p:nvPr/>
        </p:nvSpPr>
        <p:spPr>
          <a:xfrm>
            <a:off x="502920" y="2880360"/>
            <a:ext cx="256032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Comparison mode accent"/>
          <p:cNvSpPr/>
          <p:nvPr/>
        </p:nvSpPr>
        <p:spPr>
          <a:xfrm>
            <a:off x="502920" y="2880360"/>
            <a:ext cx="64008" cy="14630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Comparison mode head"/>
          <p:cNvSpPr txBox="1"/>
          <p:nvPr/>
        </p:nvSpPr>
        <p:spPr>
          <a:xfrm>
            <a:off x="704088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Comparison mode</a:t>
            </a:r>
            <a:endParaRPr lang="en-US" sz="1600" dirty="0"/>
          </a:p>
        </p:txBody>
      </p:sp>
      <p:sp>
        <p:nvSpPr>
          <p:cNvPr id="18" name="Comparison mode body"/>
          <p:cNvSpPr txBox="1"/>
          <p:nvPr/>
        </p:nvSpPr>
        <p:spPr>
          <a:xfrm>
            <a:off x="704088" y="33832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Fixed vs dynamic, with % waiting-time improvement</a:t>
            </a:r>
            <a:endParaRPr lang="en-US" sz="1400" dirty="0"/>
          </a:p>
        </p:txBody>
      </p:sp>
      <p:sp>
        <p:nvSpPr>
          <p:cNvPr id="19" name="Queue management card"/>
          <p:cNvSpPr/>
          <p:nvPr/>
        </p:nvSpPr>
        <p:spPr>
          <a:xfrm>
            <a:off x="3291840" y="2880360"/>
            <a:ext cx="256032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Queue management accent"/>
          <p:cNvSpPr/>
          <p:nvPr/>
        </p:nvSpPr>
        <p:spPr>
          <a:xfrm>
            <a:off x="3291840" y="2880360"/>
            <a:ext cx="64008" cy="14630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Queue management head"/>
          <p:cNvSpPr txBox="1"/>
          <p:nvPr/>
        </p:nvSpPr>
        <p:spPr>
          <a:xfrm>
            <a:off x="3493008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Queue management</a:t>
            </a:r>
            <a:endParaRPr lang="en-US" sz="1600" dirty="0"/>
          </a:p>
        </p:txBody>
      </p:sp>
      <p:sp>
        <p:nvSpPr>
          <p:cNvPr id="22" name="Queue management body"/>
          <p:cNvSpPr txBox="1"/>
          <p:nvPr/>
        </p:nvSpPr>
        <p:spPr>
          <a:xfrm>
            <a:off x="3493008" y="33832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Add, edit, remove; load sample or random loads</a:t>
            </a:r>
            <a:endParaRPr lang="en-US" sz="1400" dirty="0"/>
          </a:p>
        </p:txBody>
      </p:sp>
      <p:sp>
        <p:nvSpPr>
          <p:cNvPr id="23" name="Parameter controls card"/>
          <p:cNvSpPr/>
          <p:nvPr/>
        </p:nvSpPr>
        <p:spPr>
          <a:xfrm>
            <a:off x="6080760" y="2880360"/>
            <a:ext cx="2560320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Parameter controls accent"/>
          <p:cNvSpPr/>
          <p:nvPr/>
        </p:nvSpPr>
        <p:spPr>
          <a:xfrm>
            <a:off x="6080760" y="2880360"/>
            <a:ext cx="64008" cy="14630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5" name="Parameter controls head"/>
          <p:cNvSpPr txBox="1"/>
          <p:nvPr/>
        </p:nvSpPr>
        <p:spPr>
          <a:xfrm>
            <a:off x="6281928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Parameter controls</a:t>
            </a:r>
            <a:endParaRPr lang="en-US" sz="1600" dirty="0"/>
          </a:p>
        </p:txBody>
      </p:sp>
      <p:sp>
        <p:nvSpPr>
          <p:cNvPr id="26" name="Parameter controls body"/>
          <p:cNvSpPr txBox="1"/>
          <p:nvPr/>
        </p:nvSpPr>
        <p:spPr>
          <a:xfrm>
            <a:off x="6281928" y="33832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Adjust aging interval and step in real time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Testing and Evaluation</a:t>
            </a:r>
            <a:endParaRPr lang="en-US" sz="2600" dirty="0"/>
          </a:p>
        </p:txBody>
      </p:sp>
      <p:sp>
        <p:nvSpPr>
          <p:cNvPr id="3" name="Testing card"/>
          <p:cNvSpPr/>
          <p:nvPr/>
        </p:nvSpPr>
        <p:spPr>
          <a:xfrm>
            <a:off x="502920" y="1234440"/>
            <a:ext cx="3977640" cy="24688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Testing accent"/>
          <p:cNvSpPr/>
          <p:nvPr/>
        </p:nvSpPr>
        <p:spPr>
          <a:xfrm>
            <a:off x="502920" y="1234440"/>
            <a:ext cx="64008" cy="24688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sting head"/>
          <p:cNvSpPr txBox="1"/>
          <p:nvPr/>
        </p:nvSpPr>
        <p:spPr>
          <a:xfrm>
            <a:off x="704088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it is tested</a:t>
            </a:r>
            <a:endParaRPr lang="en-US" sz="1600" dirty="0"/>
          </a:p>
        </p:txBody>
      </p:sp>
      <p:sp>
        <p:nvSpPr>
          <p:cNvPr id="6" name="Testing body"/>
          <p:cNvSpPr txBox="1"/>
          <p:nvPr/>
        </p:nvSpPr>
        <p:spPr>
          <a:xfrm>
            <a:off x="704088" y="1737360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Hand-built cases: idle gaps, ties, simultaneous arrivals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Preemption and starvation scenarios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Randomized workloads checked by the verifier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Extreme aging parameters and clamping</a:t>
            </a:r>
            <a:endParaRPr lang="en-US" sz="1400" dirty="0"/>
          </a:p>
        </p:txBody>
      </p:sp>
      <p:sp>
        <p:nvSpPr>
          <p:cNvPr id="7" name="Compared card"/>
          <p:cNvSpPr/>
          <p:nvPr/>
        </p:nvSpPr>
        <p:spPr>
          <a:xfrm>
            <a:off x="4663440" y="1234440"/>
            <a:ext cx="3977640" cy="24688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Compared accent"/>
          <p:cNvSpPr/>
          <p:nvPr/>
        </p:nvSpPr>
        <p:spPr>
          <a:xfrm>
            <a:off x="4663440" y="1234440"/>
            <a:ext cx="64008" cy="2468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Compared head"/>
          <p:cNvSpPr txBox="1"/>
          <p:nvPr/>
        </p:nvSpPr>
        <p:spPr>
          <a:xfrm>
            <a:off x="4864608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is compared</a:t>
            </a:r>
            <a:endParaRPr lang="en-US" sz="1600" dirty="0"/>
          </a:p>
        </p:txBody>
      </p:sp>
      <p:sp>
        <p:nvSpPr>
          <p:cNvPr id="10" name="Compared body"/>
          <p:cNvSpPr txBox="1"/>
          <p:nvPr/>
        </p:nvSpPr>
        <p:spPr>
          <a:xfrm>
            <a:off x="4864608" y="1737360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Average waiting time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Average turnaround time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Maximum waiting time (starvation indicator)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Percentage improvement, fixed vs dynamic</a:t>
            </a:r>
            <a:endParaRPr lang="en-US" sz="1400" dirty="0"/>
          </a:p>
        </p:txBody>
      </p:sp>
      <p:sp>
        <p:nvSpPr>
          <p:cNvPr id="11" name="Expected outcome banner"/>
          <p:cNvSpPr/>
          <p:nvPr/>
        </p:nvSpPr>
        <p:spPr>
          <a:xfrm>
            <a:off x="502920" y="3931920"/>
            <a:ext cx="813816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</p:spPr>
      </p:sp>
      <p:sp>
        <p:nvSpPr>
          <p:cNvPr id="12" name="Expected outcome text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Expected: lower starvation risk and shorter average waiting on workloads with large priority gaps.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Limitations and Future Work</a:t>
            </a:r>
            <a:endParaRPr lang="en-US" sz="2600" dirty="0"/>
          </a:p>
        </p:txBody>
      </p:sp>
      <p:sp>
        <p:nvSpPr>
          <p:cNvPr id="3" name="Limitations card"/>
          <p:cNvSpPr/>
          <p:nvPr/>
        </p:nvSpPr>
        <p:spPr>
          <a:xfrm>
            <a:off x="502920" y="1234440"/>
            <a:ext cx="3977640" cy="3200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Limitations accent"/>
          <p:cNvSpPr/>
          <p:nvPr/>
        </p:nvSpPr>
        <p:spPr>
          <a:xfrm>
            <a:off x="502920" y="1234440"/>
            <a:ext cx="64008" cy="32004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5" name="Limitations head"/>
          <p:cNvSpPr txBox="1"/>
          <p:nvPr/>
        </p:nvSpPr>
        <p:spPr>
          <a:xfrm>
            <a:off x="704088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6" name="Limitations body"/>
          <p:cNvSpPr txBox="1"/>
          <p:nvPr/>
        </p:nvSpPr>
        <p:spPr>
          <a:xfrm>
            <a:off x="704088" y="173736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Single CPU, no context-switch cost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CPU-bound only; no I/O blocking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Results depend on aging interval and step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No hard real-time guarantees</a:t>
            </a:r>
            <a:endParaRPr lang="en-US" sz="1400" dirty="0"/>
          </a:p>
        </p:txBody>
      </p:sp>
      <p:sp>
        <p:nvSpPr>
          <p:cNvPr id="7" name="Future card"/>
          <p:cNvSpPr/>
          <p:nvPr/>
        </p:nvSpPr>
        <p:spPr>
          <a:xfrm>
            <a:off x="4663440" y="1234440"/>
            <a:ext cx="3977640" cy="3200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Future accent"/>
          <p:cNvSpPr/>
          <p:nvPr/>
        </p:nvSpPr>
        <p:spPr>
          <a:xfrm>
            <a:off x="4663440" y="1234440"/>
            <a:ext cx="64008" cy="32004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Future head"/>
          <p:cNvSpPr txBox="1"/>
          <p:nvPr/>
        </p:nvSpPr>
        <p:spPr>
          <a:xfrm>
            <a:off x="4864608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Future enhancements</a:t>
            </a:r>
            <a:endParaRPr lang="en-US" sz="1600" dirty="0"/>
          </a:p>
        </p:txBody>
      </p:sp>
      <p:sp>
        <p:nvSpPr>
          <p:cNvPr id="10" name="Future body"/>
          <p:cNvSpPr txBox="1"/>
          <p:nvPr/>
        </p:nvSpPr>
        <p:spPr>
          <a:xfrm>
            <a:off x="4864608" y="173736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Multi-core scheduling and load balancing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I/O burst modeling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Automatic tuning of aging parameters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Compare with Round Robin, SRTF and MLFQ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Export results to CSV or PDF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Applications and Conclusion</a:t>
            </a:r>
            <a:endParaRPr lang="en-US" sz="2800" dirty="0"/>
          </a:p>
        </p:txBody>
      </p:sp>
      <p:sp>
        <p:nvSpPr>
          <p:cNvPr id="3" name="App card 1"/>
          <p:cNvSpPr/>
          <p:nvPr/>
        </p:nvSpPr>
        <p:spPr>
          <a:xfrm>
            <a:off x="548640" y="1280160"/>
            <a:ext cx="2560320" cy="13716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App text 1"/>
          <p:cNvSpPr txBox="1"/>
          <p:nvPr/>
        </p:nvSpPr>
        <p:spPr>
          <a:xfrm>
            <a:off x="685800" y="1280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Real-time and embedded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Keep housekeeping tasks running</a:t>
            </a:r>
            <a:endParaRPr lang="en-US" sz="1500" dirty="0"/>
          </a:p>
        </p:txBody>
      </p:sp>
      <p:sp>
        <p:nvSpPr>
          <p:cNvPr id="5" name="App card 2"/>
          <p:cNvSpPr/>
          <p:nvPr/>
        </p:nvSpPr>
        <p:spPr>
          <a:xfrm>
            <a:off x="3337560" y="1280160"/>
            <a:ext cx="2560320" cy="13716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App text 2"/>
          <p:cNvSpPr txBox="1"/>
          <p:nvPr/>
        </p:nvSpPr>
        <p:spPr>
          <a:xfrm>
            <a:off x="3474720" y="1280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Server workloads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Stop background jobs from starving</a:t>
            </a:r>
            <a:endParaRPr lang="en-US" sz="1500" dirty="0"/>
          </a:p>
        </p:txBody>
      </p:sp>
      <p:sp>
        <p:nvSpPr>
          <p:cNvPr id="7" name="App card 3"/>
          <p:cNvSpPr/>
          <p:nvPr/>
        </p:nvSpPr>
        <p:spPr>
          <a:xfrm>
            <a:off x="6126480" y="1280160"/>
            <a:ext cx="2560320" cy="13716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App text 3"/>
          <p:cNvSpPr txBox="1"/>
          <p:nvPr/>
        </p:nvSpPr>
        <p:spPr>
          <a:xfrm>
            <a:off x="6263640" y="1280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Education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Visualize scheduling and aging effects</a:t>
            </a:r>
            <a:endParaRPr lang="en-US" sz="1500" dirty="0"/>
          </a:p>
        </p:txBody>
      </p:sp>
      <p:sp>
        <p:nvSpPr>
          <p:cNvPr id="9" name="Conclusion"/>
          <p:cNvSpPr txBox="1"/>
          <p:nvPr/>
        </p:nvSpPr>
        <p:spPr>
          <a:xfrm>
            <a:off x="548640" y="31089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Aging based on waiting time addresses starvation while keeping priority enforcement. The C engine, generator, verifier and dashboard make the behavior easy to observe, test and measure.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PA">
  <a:themeElements>
    <a:clrScheme name="DPA">
      <a:dk1>
        <a:srgbClr val="0F172A"/>
      </a:dk1>
      <a:lt1>
        <a:srgbClr val="FFFFFF"/>
      </a:lt1>
      <a:dk2>
        <a:srgbClr val="334155"/>
      </a:dk2>
      <a:lt2>
        <a:srgbClr val="F1F5F9"/>
      </a:lt2>
      <a:accent1>
        <a:srgbClr val="0EA5E9"/>
      </a:accent1>
      <a:accent2>
        <a:srgbClr val="8B5CF6"/>
      </a:accent2>
      <a:accent3>
        <a:srgbClr val="10B981"/>
      </a:accent3>
      <a:accent4>
        <a:srgbClr val="F59E0B"/>
      </a:accent4>
      <a:accent5>
        <a:srgbClr val="EF4444"/>
      </a:accent5>
      <a:accent6>
        <a:srgbClr val="64748B"/>
      </a:accent6>
      <a:hlink>
        <a:srgbClr val="0EA5E9"/>
      </a:hlink>
      <a:folHlink>
        <a:srgbClr val="8B5CF6"/>
      </a:folHlink>
    </a:clrScheme>
    <a:fontScheme name="DP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CPU Scheduler with Dynamic Priority Adjustment</dc:title>
  <dc:subject>PptxGenJS Presentation</dc:subject>
  <dc:creator>PptxGenJS</dc:creator>
  <cp:lastModifiedBy>PptxGenJS</cp:lastModifiedBy>
  <cp:revision>1</cp:revision>
  <dcterms:created xsi:type="dcterms:W3CDTF">2026-10-16T18:50:34Z</dcterms:created>
  <dcterms:modified xsi:type="dcterms:W3CDTF">2026-10-16T18:50:34Z</dcterms:modified>
</cp:coreProperties>
</file>